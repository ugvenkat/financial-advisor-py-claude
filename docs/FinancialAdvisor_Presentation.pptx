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457200" cy="5015484"/>
          </a:xfrm>
          <a:prstGeom prst="rect">
            <a:avLst/>
          </a:prstGeom>
          <a:solidFill>
            <a:srgbClr val="253785"/>
          </a:solidFill>
          <a:ln w="12700">
            <a:solidFill>
              <a:srgbClr val="2537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822960"/>
            <a:ext cx="1280160" cy="12801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229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60320" y="7315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Advisor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560320" y="15087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System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7863840" cy="0"/>
          </a:xfrm>
          <a:prstGeom prst="line">
            <a:avLst/>
          </a:prstGeom>
          <a:noFill/>
          <a:ln w="19050">
            <a:solidFill>
              <a:srgbClr val="3A4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23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F"/>
                </a:solidFill>
              </a:rPr>
              <a:t>Powered by CrewAI  |  Anthropic Claude API  |  FastAPI  |  Python 3.12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</a:rPr>
              <a:t>A 5-agent agentic pipeline that performs deep financial analysis on any stock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</a:rPr>
              <a:t>and delivers structured investment recommendations in under 90 seconds.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828800" cy="868680"/>
          </a:xfrm>
          <a:prstGeom prst="rect">
            <a:avLst/>
          </a:prstGeom>
          <a:solidFill>
            <a:srgbClr val="253785"/>
          </a:solidFill>
          <a:ln w="12700">
            <a:solidFill>
              <a:srgbClr val="3A4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959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4325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AI Agents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0" y="3931920"/>
            <a:ext cx="1828800" cy="868680"/>
          </a:xfrm>
          <a:prstGeom prst="rect">
            <a:avLst/>
          </a:prstGeom>
          <a:solidFill>
            <a:srgbClr val="253785"/>
          </a:solidFill>
          <a:ln w="12700">
            <a:solidFill>
              <a:srgbClr val="3A4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0" y="3959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&lt; 90s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0" y="4325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Per 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3931920"/>
            <a:ext cx="1828800" cy="868680"/>
          </a:xfrm>
          <a:prstGeom prst="rect">
            <a:avLst/>
          </a:prstGeom>
          <a:solidFill>
            <a:srgbClr val="253785"/>
          </a:solidFill>
          <a:ln w="12700">
            <a:solidFill>
              <a:srgbClr val="3A4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959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10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46320" y="4325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Max Tickers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3931920"/>
            <a:ext cx="1828800" cy="868680"/>
          </a:xfrm>
          <a:prstGeom prst="rect">
            <a:avLst/>
          </a:prstGeom>
          <a:solidFill>
            <a:srgbClr val="253785"/>
          </a:solidFill>
          <a:ln w="12700">
            <a:solidFill>
              <a:srgbClr val="3A4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3959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REST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49440" y="4325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API Driven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93192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Challenge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3560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Manual stock research is slow and inconsistent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39696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09397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Analyst reports cost thousands of dollars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798064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75234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No structured framework evaluating multiple factors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456432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4107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Hard to get Buy/Hold/Sell with clear rationale quickly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86868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868680"/>
            <a:ext cx="393192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868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Solution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66360" y="1481328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143560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5 specialized AI agents in a structured pipeline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66360" y="2139696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209397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Live market data from Yahoo Finance &amp; MarketWatch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66360" y="2798064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275234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Fundamental, Sentiment &amp; Risk analysis in parallel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66360" y="3456432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68112" y="34107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CIO agent synthesizes everything into a clear call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919472"/>
            <a:ext cx="859536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1947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Tech Stack:  Python 3.12   |   CrewAI   |   Anthropic Claude (claude-haiku-4-5)   |   FastAPI   |   SQLite   |   Uvicorn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 / Curl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HTTP POST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125730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1338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914400"/>
            <a:ext cx="201168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914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/api/analysis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25730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338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914400"/>
            <a:ext cx="2011680" cy="6858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14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Orchestrator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MultiAgentOrchestrator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125730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1338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914400"/>
            <a:ext cx="2011680" cy="685800"/>
          </a:xfrm>
          <a:prstGeom prst="rect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914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1600200"/>
            <a:ext cx="0" cy="3200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42432" y="18105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v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011680"/>
            <a:ext cx="237744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Agent 1: Data Collection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(Yahoo Finance + MarketWatch)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0" y="2606040"/>
            <a:ext cx="0" cy="22860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2834640"/>
            <a:ext cx="91440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17320" y="2834640"/>
            <a:ext cx="0" cy="22860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063240"/>
            <a:ext cx="2286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Fundamental Analysis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834640"/>
            <a:ext cx="0" cy="22860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9000" y="3063240"/>
            <a:ext cx="2286000" cy="640080"/>
          </a:xfrm>
          <a:prstGeom prst="rect">
            <a:avLst/>
          </a:prstGeom>
          <a:solidFill>
            <a:srgbClr val="5B8CDB"/>
          </a:solidFill>
          <a:ln w="12700">
            <a:solidFill>
              <a:srgbClr val="5B8C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42900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Sentiment Analysis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26680" y="2834640"/>
            <a:ext cx="0" cy="22860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3063240"/>
            <a:ext cx="2286000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 Analysis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2990088"/>
            <a:ext cx="274320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2990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PARALLEL EXECUTION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417320" y="3703320"/>
            <a:ext cx="0" cy="22860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3703320"/>
            <a:ext cx="0" cy="22860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26680" y="3703320"/>
            <a:ext cx="0" cy="22860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17320" y="3931920"/>
            <a:ext cx="63093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3931920"/>
            <a:ext cx="0" cy="20116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62272" y="405993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v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200400" y="4251960"/>
            <a:ext cx="2743200" cy="5943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200400" y="4251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5: CIO Decision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Buy / Hold / Sell + Price Target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92240" y="4251960"/>
            <a:ext cx="237744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92240" y="4251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Anthropic Claude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claude-haiku-4-5-20251001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43600" y="4549140"/>
            <a:ext cx="54864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Sequence Diagram — Analysis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051560" cy="4297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777240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Client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08660" y="1207008"/>
            <a:ext cx="0" cy="3566160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17320" y="777240"/>
            <a:ext cx="1051560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777240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FastAPI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43100" y="1207008"/>
            <a:ext cx="0" cy="356616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697480" y="777240"/>
            <a:ext cx="1051560" cy="4297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777240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Orchestrator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23260" y="1207008"/>
            <a:ext cx="0" cy="3566160"/>
          </a:xfrm>
          <a:prstGeom prst="line">
            <a:avLst/>
          </a:prstGeom>
          <a:noFill/>
          <a:ln w="12700">
            <a:solidFill>
              <a:srgbClr val="8E44AD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886200" y="777240"/>
            <a:ext cx="1051560" cy="4297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86200" y="777240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Agent 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11980" y="1207008"/>
            <a:ext cx="0" cy="3566160"/>
          </a:xfrm>
          <a:prstGeom prst="line">
            <a:avLst/>
          </a:prstGeom>
          <a:noFill/>
          <a:ln w="12700">
            <a:solidFill>
              <a:srgbClr val="E67E2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074920" y="777240"/>
            <a:ext cx="1051560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777240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Agents 2/3/4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00700" y="1207008"/>
            <a:ext cx="0" cy="356616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217920" y="777240"/>
            <a:ext cx="1051560" cy="4297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777240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CIO Agent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43700" y="1207008"/>
            <a:ext cx="0" cy="3566160"/>
          </a:xfrm>
          <a:prstGeom prst="line">
            <a:avLst/>
          </a:prstGeom>
          <a:noFill/>
          <a:ln w="12700">
            <a:solidFill>
              <a:srgbClr val="E74C3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589520" y="777240"/>
            <a:ext cx="1051560" cy="4297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89520" y="777240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Claude API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115300" y="1207008"/>
            <a:ext cx="0" cy="3566160"/>
          </a:xfrm>
          <a:prstGeom prst="line">
            <a:avLst/>
          </a:prstGeom>
          <a:noFill/>
          <a:ln w="12700">
            <a:solidFill>
              <a:srgbClr val="B8860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08660" y="1417320"/>
            <a:ext cx="12344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15084" y="128930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&gt;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" y="1216152"/>
            <a:ext cx="1143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F36"/>
                </a:solidFill>
              </a:rPr>
              <a:t>POST /api/analysis  {tickers:[AAPL]}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943100" y="1755648"/>
            <a:ext cx="12801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95244" y="162763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&gt;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88820" y="1554480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F36"/>
                </a:solidFill>
              </a:rPr>
              <a:t>start_job(request)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943100" y="2084832"/>
            <a:ext cx="1280160" cy="0"/>
          </a:xfrm>
          <a:prstGeom prst="line">
            <a:avLst/>
          </a:prstGeom>
          <a:noFill/>
          <a:ln w="19050">
            <a:solidFill>
              <a:srgbClr val="8E44AD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933956" y="195681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</a:rPr>
              <a:t>&lt;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88820" y="1883664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F36"/>
                </a:solidFill>
              </a:rPr>
              <a:t>Return job_id (202 Accepted)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08660" y="2395728"/>
            <a:ext cx="1234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699516" y="22677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&lt;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4380" y="2194560"/>
            <a:ext cx="1143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F36"/>
                </a:solidFill>
              </a:rPr>
              <a:t>{ job_id, status: Queued }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23260" y="2743200"/>
            <a:ext cx="1188720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83964" y="26151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&gt;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68980" y="2542032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F36"/>
                </a:solidFill>
              </a:rPr>
              <a:t>async: collect market data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411980" y="3063240"/>
            <a:ext cx="370332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87284" y="293522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&gt;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57700" y="2862072"/>
            <a:ext cx="3611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F36"/>
                </a:solidFill>
              </a:rPr>
              <a:t>LLM: analyze stock data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411980" y="3383280"/>
            <a:ext cx="370332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4402836" y="325526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&lt;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57700" y="3182112"/>
            <a:ext cx="3611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F36"/>
                </a:solidFill>
              </a:rPr>
              <a:t>Raw data JSON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223260" y="3703320"/>
            <a:ext cx="2377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72684" y="357530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&gt;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68980" y="3502152"/>
            <a:ext cx="2286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F36"/>
                </a:solidFill>
              </a:rPr>
              <a:t>parallel: Fundamental + Sentiment + Risk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600700" y="4005072"/>
            <a:ext cx="251460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87284" y="387705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&gt;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46420" y="3803904"/>
            <a:ext cx="2423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F36"/>
                </a:solidFill>
              </a:rPr>
              <a:t>3x LLM calls in parallel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600700" y="4315968"/>
            <a:ext cx="251460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5591556" y="418795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&lt;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646420" y="4114800"/>
            <a:ext cx="2423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F36"/>
                </a:solidFill>
              </a:rPr>
              <a:t>Scores returned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223260" y="4645152"/>
            <a:ext cx="3520440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15684" y="451713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&gt;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268980" y="4443984"/>
            <a:ext cx="3429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F36"/>
                </a:solidFill>
              </a:rPr>
              <a:t>CIO: synthesize -&gt; Buy/Hold/Sell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5 AI Agents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4320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50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" y="822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Collection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F"/>
                </a:solidFill>
              </a:rPr>
              <a:t>Gathers market intelligence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" y="1527048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8132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Live price, P/E, Beta, Market Cap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8328" y="1792224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4650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52-week high/low, EPS, Revenue growth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8328" y="2057400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1168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News headlines from MarketWatch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8328" y="2322576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7685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Analyst ratings breakdown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596896"/>
            <a:ext cx="2560320" cy="182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968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</a:rPr>
              <a:t>Output: StockRawData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82296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82296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850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93592" y="822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Fundamental Analysis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12527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F"/>
                </a:solidFill>
              </a:rPr>
              <a:t>Evaluates financial health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10128" y="152704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48132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Score 0-100, Grade A-F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10128" y="179222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174650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P/E, P/B, Debt/Equity, FCF analysis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10128" y="205740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01168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Revenue &amp; EPS growth trends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10128" y="232257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27685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Strengths and weaknesses list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91840" y="2596896"/>
            <a:ext cx="2560320" cy="182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25968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Output: FundamentalScore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72200" y="82296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822960"/>
            <a:ext cx="2743200" cy="384048"/>
          </a:xfrm>
          <a:prstGeom prst="rect">
            <a:avLst/>
          </a:prstGeom>
          <a:solidFill>
            <a:srgbClr val="5B8CDB"/>
          </a:solidFill>
          <a:ln w="12700">
            <a:solidFill>
              <a:srgbClr val="5B8C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850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565392" y="822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Sentiment Analysis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12527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F"/>
                </a:solidFill>
              </a:rPr>
              <a:t>Reads market mood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81928" y="1527048"/>
            <a:ext cx="109728" cy="109728"/>
          </a:xfrm>
          <a:prstGeom prst="ellipse">
            <a:avLst/>
          </a:prstGeom>
          <a:solidFill>
            <a:srgbClr val="5B8CDB"/>
          </a:solidFill>
          <a:ln w="12700">
            <a:solidFill>
              <a:srgbClr val="5B8C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148132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Bullish/Bearish/Neutral class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81928" y="1792224"/>
            <a:ext cx="109728" cy="109728"/>
          </a:xfrm>
          <a:prstGeom prst="ellipse">
            <a:avLst/>
          </a:prstGeom>
          <a:solidFill>
            <a:srgbClr val="5B8CDB"/>
          </a:solidFill>
          <a:ln w="12700">
            <a:solidFill>
              <a:srgbClr val="5B8C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174650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Score from -1.0 to +1.0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81928" y="2057400"/>
            <a:ext cx="109728" cy="109728"/>
          </a:xfrm>
          <a:prstGeom prst="ellipse">
            <a:avLst/>
          </a:prstGeom>
          <a:solidFill>
            <a:srgbClr val="5B8CDB"/>
          </a:solidFill>
          <a:ln w="12700">
            <a:solidFill>
              <a:srgbClr val="5B8C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201168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Bullish%, Bearish%, Neutral%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81928" y="2322576"/>
            <a:ext cx="109728" cy="109728"/>
          </a:xfrm>
          <a:prstGeom prst="ellipse">
            <a:avLst/>
          </a:prstGeom>
          <a:solidFill>
            <a:srgbClr val="5B8CDB"/>
          </a:solidFill>
          <a:ln w="12700">
            <a:solidFill>
              <a:srgbClr val="5B8C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227685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Based on news and market signals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63640" y="2596896"/>
            <a:ext cx="2560320" cy="182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25968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CDB"/>
                </a:solidFill>
              </a:rPr>
              <a:t>Output: SentimentScore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600200" y="3035808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600200" y="3035808"/>
            <a:ext cx="274320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4592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993392" y="30358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 Analysis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691640" y="346557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F"/>
                </a:solidFill>
              </a:rPr>
              <a:t>Quantifies investment risk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709928" y="3739896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74520" y="369417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Risk score 0-100 (4 levels)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709928" y="4005072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74520" y="395935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Macro and regulatory risks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709928" y="4270248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74520" y="422452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Competitive and volatility risks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709928" y="4535424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74520" y="448970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Beta-based risk assessment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691640" y="4809744"/>
            <a:ext cx="2560320" cy="182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691640" y="48097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</a:rPr>
              <a:t>Output: RiskScore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572000" y="3035808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572000" y="3035808"/>
            <a:ext cx="274320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1772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4965192" y="30358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CIO Decision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663440" y="346557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F"/>
                </a:solidFill>
              </a:rPr>
              <a:t>Final investment call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681728" y="3739896"/>
            <a:ext cx="109728" cy="10972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46320" y="369417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Synthesizes all 4 agent outputs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681728" y="4005072"/>
            <a:ext cx="109728" cy="10972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46320" y="395935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Issues Buy / Hold / Sell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681728" y="4270248"/>
            <a:ext cx="109728" cy="10972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46320" y="422452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Sets price target + time horizon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681728" y="4535424"/>
            <a:ext cx="109728" cy="10972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46320" y="448970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</a:rPr>
              <a:t>Confidence score 0-100%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663440" y="4809744"/>
            <a:ext cx="2560320" cy="182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63440" y="48097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E44AD"/>
                </a:solidFill>
              </a:rPr>
              <a:t>Output: InvestmentRecommendation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035040" y="3063240"/>
            <a:ext cx="283464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35040" y="30632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Agents 2, 3, 4 run in PARALLEL — 3x faster!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REST API &amp; Sample Output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 API Endpoints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566928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86968" y="1143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/api/analysis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24912" y="11430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F"/>
                </a:solidFill>
              </a:rPr>
              <a:t>Start analysis job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545336"/>
            <a:ext cx="402336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545336"/>
            <a:ext cx="56692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54533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86968" y="15453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/api/analysis/{id}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24912" y="154533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F"/>
                </a:solidFill>
              </a:rPr>
              <a:t>Poll status + results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947672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947672"/>
            <a:ext cx="56692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9476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86968" y="1947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/api/analysis/{id}/live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24912" y="19476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F"/>
                </a:solidFill>
              </a:rPr>
              <a:t>Watch agents live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350008"/>
            <a:ext cx="402336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350008"/>
            <a:ext cx="56692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3500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6968" y="23500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/api/analysis/{id}/traces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24912" y="23500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F"/>
                </a:solidFill>
              </a:rPr>
              <a:t>Agent reasoning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2752344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752344"/>
            <a:ext cx="56692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75234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86968" y="27523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/api/analysis/{id}/report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24912" y="275234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F"/>
                </a:solidFill>
              </a:rPr>
              <a:t>Download MD report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154680"/>
            <a:ext cx="402336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154680"/>
            <a:ext cx="56692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1546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86968" y="3154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/api/analysis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24912" y="3154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F"/>
                </a:solidFill>
              </a:rPr>
              <a:t>List recent jobs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3557016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557016"/>
            <a:ext cx="56692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55701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86968" y="3557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/api/health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24912" y="355701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F"/>
                </a:solidFill>
              </a:rPr>
              <a:t>Health check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74320" y="40233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BBF"/>
                </a:solidFill>
              </a:rPr>
              <a:t>Swagger UI: http://localhost:8080/docs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0" y="822960"/>
            <a:ext cx="42976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822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 Output — AAPL Live Test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0" y="1143000"/>
            <a:ext cx="4297680" cy="31546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681728" y="1216152"/>
            <a:ext cx="407822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"job_id": "BDA6FF7A",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81728" y="1440180"/>
            <a:ext cx="407822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"Completed",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81728" y="1664208"/>
            <a:ext cx="407822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"duration_secs": 58.3,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81728" y="1888236"/>
            <a:ext cx="407822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"recommendation": {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681728" y="2112264"/>
            <a:ext cx="407822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"action": "Hold",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81728" y="2336292"/>
            <a:ext cx="407822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"confidence": 62,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81728" y="2560320"/>
            <a:ext cx="407822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"price_target": 221.59,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681728" y="2784348"/>
            <a:ext cx="407822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"time_horizon": "12 months",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681728" y="3008376"/>
            <a:ext cx="407822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"fundamental": { "grade": "B" },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81728" y="3232404"/>
            <a:ext cx="407822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"sentiment": "Bullish",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681728" y="3456432"/>
            <a:ext cx="407822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"risk": { "level": "Medium" }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681728" y="3680460"/>
            <a:ext cx="407822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681728" y="3904488"/>
            <a:ext cx="407822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72000" y="4370832"/>
            <a:ext cx="429768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572000" y="43708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Completed in 58 seconds — Real result from live test!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Features &amp; Benefits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594360" cy="5943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Speed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246888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1051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F7A"/>
                </a:solidFill>
              </a:rPr>
              <a:t>Full 5-agent analysis in under 90 seconds via parallel agent execution and async job model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2412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24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6908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REST API First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83280" y="1737360"/>
            <a:ext cx="246888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81051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F7A"/>
                </a:solidFill>
              </a:rPr>
              <a:t>8 clean endpoints, async background jobs, Swagger UI, live agent status streaming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82296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024128"/>
            <a:ext cx="594360" cy="59436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024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CrewAI + Claude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1737360"/>
            <a:ext cx="246888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81051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F7A"/>
                </a:solidFill>
              </a:rPr>
              <a:t>Industry-grade agentic framework powered by Anthropic Claude for every agent's reasoning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127248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1272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" y="3154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Persistent Storage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" y="3840480"/>
            <a:ext cx="246888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91363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F7A"/>
                </a:solidFill>
              </a:rPr>
              <a:t>SQLite stores jobs, reports and full agent traces — complete audit trail of every decision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92608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0" y="3127248"/>
            <a:ext cx="594360" cy="5943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1272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RPT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069080" y="3154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Rich Reports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83280" y="3840480"/>
            <a:ext cx="246888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91363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F7A"/>
                </a:solidFill>
              </a:rPr>
              <a:t>Markdown reports with reasoning traces, scores, catalysts, risks and price targets per stock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92608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5080" y="3127248"/>
            <a:ext cx="594360" cy="5943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31272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40880" y="3154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Scalable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55080" y="3840480"/>
            <a:ext cx="246888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391363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F7A"/>
                </a:solidFill>
              </a:rPr>
              <a:t>Analyze up to 10 stocks per job, thread pool concurrency, async background execution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457200" cy="5015484"/>
          </a:xfrm>
          <a:prstGeom prst="rect">
            <a:avLst/>
          </a:prstGeom>
          <a:solidFill>
            <a:srgbClr val="253785"/>
          </a:solidFill>
          <a:ln w="12700">
            <a:solidFill>
              <a:srgbClr val="2537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Summary &amp; 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7863840" cy="0"/>
          </a:xfrm>
          <a:prstGeom prst="line">
            <a:avLst/>
          </a:prstGeom>
          <a:noFill/>
          <a:ln w="19050">
            <a:solidFill>
              <a:srgbClr val="3A4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78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What We Built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499616"/>
            <a:ext cx="155448" cy="1554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45389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Full Python port of .NET Financial Advisor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83664"/>
            <a:ext cx="155448" cy="1554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83794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5-agent CrewAI pipeline with Anthropic Claude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67712"/>
            <a:ext cx="155448" cy="1554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2219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Agents 2/3/4 run in parallel for 3x speed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155448" cy="1554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26060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REST API with async background job 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035808"/>
            <a:ext cx="155448" cy="1554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29900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SQLite persistence and Markdown reports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419856"/>
            <a:ext cx="155448" cy="1554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37413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Live tested on AAPL — completed in 58 seconds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078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490472"/>
            <a:ext cx="18288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453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Add real-time price API (Alpha Vantage)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874520"/>
            <a:ext cx="18288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8379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React dashboard to visualize reports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258568"/>
            <a:ext cx="18288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221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Portfolio-level risk scoring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642616"/>
            <a:ext cx="18288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606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Scheduled daily/weekly analysis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3026664"/>
            <a:ext cx="18288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990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Email / Slack notifications on completion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3410712"/>
            <a:ext cx="18288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374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Cloud deployment (AWS or Azure)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7731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</a:rPr>
              <a:t>Built with CrewAI  |  Anthropic Claude API  |  FastAPI  |  Python 3.12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Advisor - Multi-Agent AI System</dc:title>
  <dc:subject>PptxGenJS Presentation</dc:subject>
  <dc:creator>Venkat</dc:creator>
  <cp:lastModifiedBy>Venkat</cp:lastModifiedBy>
  <cp:revision>1</cp:revision>
  <dcterms:created xsi:type="dcterms:W3CDTF">2026-03-04T22:59:51Z</dcterms:created>
  <dcterms:modified xsi:type="dcterms:W3CDTF">2026-03-04T22:59:51Z</dcterms:modified>
</cp:coreProperties>
</file>